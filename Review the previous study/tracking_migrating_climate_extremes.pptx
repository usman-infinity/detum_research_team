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1C2430"/>
                </a:solidFill>
                <a:latin typeface="Georgia"/>
              </a:defRPr>
            </a:pPr>
            <a:r>
              <a:t>Tracking Migrating Climate Extremes</a:t>
            </a:r>
          </a:p>
          <a:p>
            <a:pPr>
              <a:spcAft>
                <a:spcPts val="2400"/>
              </a:spcAft>
              <a:defRPr sz="1800">
                <a:solidFill>
                  <a:srgbClr val="2B5A84"/>
                </a:solidFill>
                <a:latin typeface="Verdana"/>
              </a:defRPr>
            </a:pPr>
            <a:r>
              <a:t>A Three-Dimensional Spatiotemporal Methodology for Compound Drought–Heatwave (CDHW) Risk</a:t>
            </a:r>
          </a:p>
          <a:p>
            <a:pPr>
              <a:defRPr sz="1300" i="1">
                <a:solidFill>
                  <a:srgbClr val="626C77"/>
                </a:solidFill>
                <a:latin typeface="Verdana"/>
              </a:defRPr>
            </a:pPr>
            <a:r>
              <a:t>Based on Sabut et al. (2026) | Nature Communications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Verdana"/>
              </a:defRPr>
            </a:pPr>
            <a:r>
              <a:t>METHODOLOGY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600" b="1">
                <a:solidFill>
                  <a:srgbClr val="1C2430"/>
                </a:solidFill>
                <a:latin typeface="Georgia"/>
              </a:defRPr>
            </a:pPr>
            <a:r>
              <a:t>Multi-Source Observational Datasets Standardized to a 2°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C85A32"/>
                </a:solidFill>
                <a:latin typeface="Georgia"/>
              </a:defRPr>
            </a:pPr>
            <a:r>
              <a:t>Precipitation Data</a:t>
            </a:r>
          </a:p>
          <a:p>
            <a:pPr>
              <a:spcAft>
                <a:spcPts val="800"/>
              </a:spcAft>
              <a:defRPr sz="1200" b="1">
                <a:solidFill>
                  <a:srgbClr val="2B5A84"/>
                </a:solidFill>
                <a:latin typeface="Verdana"/>
              </a:defRPr>
            </a:pPr>
            <a:r>
              <a:t>GPCC Daily V2020  •  1.0° Resolution (1982–2019)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Global precipitation climatology dataset capturing long-term drought background.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210312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C85A32"/>
                </a:solidFill>
                <a:latin typeface="Georgia"/>
              </a:defRPr>
            </a:pPr>
            <a:r>
              <a:t>Temperature Data</a:t>
            </a:r>
          </a:p>
          <a:p>
            <a:pPr>
              <a:spcAft>
                <a:spcPts val="800"/>
              </a:spcAft>
              <a:defRPr sz="1200" b="1">
                <a:solidFill>
                  <a:srgbClr val="2B5A84"/>
                </a:solidFill>
                <a:latin typeface="Verdana"/>
              </a:defRPr>
            </a:pPr>
            <a:r>
              <a:t>NOAA CPC Daily  •  0.25° Resolution (1982–2019)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Daily Tmax and Tmin used for computing 95th percentile summer heatwave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C85A32"/>
                </a:solidFill>
                <a:latin typeface="Georgia"/>
              </a:defRPr>
            </a:pPr>
            <a:r>
              <a:t>Atmospheric Drivers</a:t>
            </a:r>
          </a:p>
          <a:p>
            <a:pPr>
              <a:spcAft>
                <a:spcPts val="800"/>
              </a:spcAft>
              <a:defRPr sz="1200" b="1">
                <a:solidFill>
                  <a:srgbClr val="2B5A84"/>
                </a:solidFill>
                <a:latin typeface="Verdana"/>
              </a:defRPr>
            </a:pPr>
            <a:r>
              <a:t>NCEP/NCAR Reanalysis 1  •  Z500, Winds, Humidity, Fluxes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Used to track 500-hPa ridges, low-level wind transport, VIMFD, and radiation.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defRPr sz="1800" b="1">
                <a:solidFill>
                  <a:srgbClr val="C85A32"/>
                </a:solidFill>
                <a:latin typeface="Georgia"/>
              </a:defRPr>
            </a:pPr>
            <a:r>
              <a:t>Land &amp; Climate Grids</a:t>
            </a:r>
          </a:p>
          <a:p>
            <a:pPr>
              <a:spcAft>
                <a:spcPts val="800"/>
              </a:spcAft>
              <a:defRPr sz="1200" b="1">
                <a:solidFill>
                  <a:srgbClr val="2B5A84"/>
                </a:solidFill>
                <a:latin typeface="Verdana"/>
              </a:defRPr>
            </a:pPr>
            <a:r>
              <a:t>Global-AI_PET_v3 &amp; Land Cover  •  2.0° Bilinear Standardization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Aridity index classifications and global cropland/pastureland coverage fractions.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Verdana"/>
              </a:defRPr>
            </a:pPr>
            <a:r>
              <a:t>METHODOLOGY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600" b="1">
                <a:solidFill>
                  <a:srgbClr val="1C2430"/>
                </a:solidFill>
                <a:latin typeface="Georgia"/>
              </a:defRPr>
            </a:pPr>
            <a:r>
              <a:t>Sc-PDSI and Temperature Anomalies Form a 3D Space-Time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EEEBE2"/>
          </a:solidFill>
          <a:ln>
            <a:solidFill>
              <a:srgbClr val="2B5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2B5A84"/>
                </a:solidFill>
                <a:latin typeface="Georgia"/>
              </a:defRPr>
            </a:pPr>
            <a:r>
              <a:t>1. Extreme Drought</a:t>
            </a:r>
          </a:p>
          <a:p>
            <a:pPr>
              <a:defRPr sz="1300">
                <a:solidFill>
                  <a:srgbClr val="1C2430"/>
                </a:solidFill>
                <a:latin typeface="Verdana"/>
              </a:defRPr>
            </a:pPr>
            <a:r>
              <a:t>• Weekly Sc-PDSI index</a:t>
            </a:r>
            <a:br/>
            <a:r>
              <a:t>• Threshold: &lt; 10th percentile</a:t>
            </a:r>
            <a:br/>
            <a:r>
              <a:t>• Captures slow-varying background soil moisture deficits.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EEEBE2"/>
          </a:solidFill>
          <a:ln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t>2. Extreme Heatwave</a:t>
            </a:r>
          </a:p>
          <a:p>
            <a:pPr>
              <a:defRPr sz="1300">
                <a:solidFill>
                  <a:srgbClr val="1C2430"/>
                </a:solidFill>
                <a:latin typeface="Verdana"/>
              </a:defRPr>
            </a:pPr>
            <a:r>
              <a:t>• Daily Tmax during extended summer</a:t>
            </a:r>
            <a:br/>
            <a:r>
              <a:t>• Threshold: &gt; 95th percentile</a:t>
            </a:r>
            <a:br/>
            <a:r>
              <a:t>• Extended summer: May–Oct (NH) and Nov–Apr (SH).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413455" cy="4389120"/>
          </a:xfrm>
          <a:prstGeom prst="round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FFFFFF"/>
                </a:solidFill>
                <a:latin typeface="Georgia"/>
              </a:defRPr>
            </a:pPr>
            <a:r>
              <a:t>3. 3D Binary Voxel Array</a:t>
            </a:r>
          </a:p>
          <a:p>
            <a:pPr>
              <a:defRPr sz="1300">
                <a:solidFill>
                  <a:srgbClr val="F9F8F5"/>
                </a:solidFill>
                <a:latin typeface="Verdana"/>
              </a:defRPr>
            </a:pPr>
            <a:r>
              <a:t>• Binary condition: G(i,j,t) = 1 if Drought AND Heatwave occur simultaneously.</a:t>
            </a:r>
            <a:br/>
            <a:r>
              <a:t>• Matrix Dimensions: Latitude × Longitude × Time.</a:t>
            </a:r>
            <a:br/>
            <a:r>
              <a:t>• Stacked daily maps form a continuous 3D domain.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Verdana"/>
              </a:defRPr>
            </a:pPr>
            <a:r>
              <a:t>METHODOLOGY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600" b="1">
                <a:solidFill>
                  <a:srgbClr val="1C2430"/>
                </a:solidFill>
                <a:latin typeface="Georgia"/>
              </a:defRPr>
            </a:pPr>
            <a:r>
              <a:t>26-Voxel CC3D Algorithm Isolates 2,584 Global Contiguous Mega-Events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2B5A84"/>
                </a:solidFill>
                <a:latin typeface="Georgia"/>
              </a:defRPr>
            </a:pPr>
            <a:r>
              <a:t>26-Voxel Spatiotemporal Connectivity</a:t>
            </a:r>
          </a:p>
          <a:p>
            <a:pPr>
              <a:defRPr sz="1300">
                <a:solidFill>
                  <a:srgbClr val="1C2430"/>
                </a:solidFill>
                <a:latin typeface="Verdana"/>
              </a:defRPr>
            </a:pPr>
            <a:r>
              <a:t>• Day t−1: 9 neighboring voxels evaluated</a:t>
            </a:r>
            <a:br/>
            <a:r>
              <a:t>• Day t (current): 8 surrounding voxels evaluated</a:t>
            </a:r>
            <a:br/>
            <a:r>
              <a:t>• Day t+1: 9 neighboring voxels evaluated</a:t>
            </a:r>
            <a:br/>
            <a:br/>
            <a:r>
              <a:t>• Links contiguous extreme voxels across space and time into a single coherent moving 3D event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50815" cy="4389120"/>
          </a:xfrm>
          <a:prstGeom prst="roundRect">
            <a:avLst/>
          </a:prstGeom>
          <a:solidFill>
            <a:srgbClr val="EEEBE2"/>
          </a:solidFill>
          <a:ln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C85A32"/>
                </a:solidFill>
                <a:latin typeface="Georgia"/>
              </a:defRPr>
            </a:pPr>
            <a:r>
              <a:t>Threshold Filtering &amp; Dataset Output</a:t>
            </a:r>
          </a:p>
          <a:p>
            <a:pPr>
              <a:defRPr sz="1300">
                <a:solidFill>
                  <a:srgbClr val="1C2430"/>
                </a:solidFill>
                <a:latin typeface="Verdana"/>
              </a:defRPr>
            </a:pPr>
            <a:r>
              <a:t>• Minimum Duration: ≥ 3 days</a:t>
            </a:r>
            <a:br/>
            <a:r>
              <a:t>• Minimum Spatial Footprint: ≥ 1,000,000 km² cumulative footprint</a:t>
            </a:r>
            <a:br/>
            <a:r>
              <a:t>• Eliminates short-lived or localized transient weather blips.</a:t>
            </a:r>
            <a:br/>
            <a:br/>
            <a:r>
              <a:t>• Identified Dataset: Exactly 2,584 large contiguous CDHW events globally (1982–2019).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Verdana"/>
              </a:defRPr>
            </a:pPr>
            <a:r>
              <a:t>METHODOLOGY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600" b="1">
                <a:solidFill>
                  <a:srgbClr val="1C2430"/>
                </a:solidFill>
                <a:latin typeface="Georgia"/>
              </a:defRPr>
            </a:pPr>
            <a:r>
              <a:t>Severity-Weighted Centroids Track Event Trajectories &amp;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1463040"/>
          </a:xfrm>
          <a:prstGeom prst="round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spcAft>
                <a:spcPts val="600"/>
              </a:spcAft>
              <a:defRPr sz="1800" b="1">
                <a:solidFill>
                  <a:srgbClr val="C85A32"/>
                </a:solidFill>
                <a:latin typeface="Georgia"/>
              </a:defRPr>
            </a:pPr>
            <a:r>
              <a:t>2D Severity-Weighted Daily Centroid Calculation</a:t>
            </a:r>
          </a:p>
          <a:p>
            <a:pPr>
              <a:spcAft>
                <a:spcPts val="400"/>
              </a:spcAft>
              <a:defRPr sz="1600" b="1">
                <a:solidFill>
                  <a:srgbClr val="FFFFFF"/>
                </a:solidFill>
                <a:latin typeface="Verdana"/>
              </a:defRPr>
            </a:pPr>
            <a:r>
              <a:t>C_x(k) = Σ [ S_i(k) · x_i ] / Σ S_i(k)    ,    C_y(k) = Σ [ S_i(k) · y_i ] / Σ S_i(k)</a:t>
            </a:r>
          </a:p>
          <a:p>
            <a:pPr>
              <a:defRPr sz="1100">
                <a:solidFill>
                  <a:srgbClr val="F9F8F5"/>
                </a:solidFill>
                <a:latin typeface="Verdana"/>
              </a:defRPr>
            </a:pPr>
            <a:r>
              <a:t>Where (x_i, y_i) are geographical coordinates and S_i(k) is the combined severity value of grid cell i on day 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3328416" cy="265176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2B5A84"/>
                </a:solidFill>
                <a:latin typeface="Georgia"/>
              </a:defRPr>
            </a:pPr>
            <a:r>
              <a:t>Vector Displacement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Straight-line distance from initial centroid C(1) to final centroid C(N). Measures net shift.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474720"/>
            <a:ext cx="3328416" cy="265176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2B5A84"/>
                </a:solidFill>
                <a:latin typeface="Georgia"/>
              </a:defRPr>
            </a:pPr>
            <a:r>
              <a:t>Total Distance &amp; Speed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Cumulative path length along daily centroids divided by duration (km/day).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474720"/>
            <a:ext cx="3328416" cy="265176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sz="1600" b="1">
                <a:solidFill>
                  <a:srgbClr val="2B5A84"/>
                </a:solidFill>
                <a:latin typeface="Georgia"/>
              </a:defRPr>
            </a:pPr>
            <a:r>
              <a:t>Directional Bearing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Dominant propagation angle (rose diagram analysis reveals &gt;10% net eastward migration).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Verdana"/>
              </a:defRPr>
            </a:pPr>
            <a:r>
              <a:t>METHODOLOGY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600" b="1">
                <a:solidFill>
                  <a:srgbClr val="1C2430"/>
                </a:solidFill>
                <a:latin typeface="Georgia"/>
              </a:defRPr>
            </a:pPr>
            <a:r>
              <a:t>K-Means Clustering Identifies Migratory vs. Localized CDHW Regimes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EEEBE2"/>
          </a:solidFill>
          <a:ln>
            <a:solidFill>
              <a:srgbClr val="2B5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800" b="1">
                <a:solidFill>
                  <a:srgbClr val="2B5A84"/>
                </a:solidFill>
                <a:latin typeface="Georgia"/>
              </a:defRPr>
            </a:pPr>
            <a:r>
              <a:t>Migratory Regime (Rossby Waves)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• Atmospheric Driver: Mobile upper-level 500-hPa high-pressure ridge.</a:t>
            </a:r>
            <a:br/>
            <a:r>
              <a:t>• Median Displacement: ~800 km</a:t>
            </a:r>
            <a:br/>
            <a:r>
              <a:t>• Median Intensity: Moderate (~5.0)</a:t>
            </a:r>
            <a:br/>
            <a:r>
              <a:t>• Thermodynamic State: Progressively negative moisture advection and increasing VIMFD moisture export along pathway.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50815" cy="4389120"/>
          </a:xfrm>
          <a:prstGeom prst="roundRect">
            <a:avLst/>
          </a:prstGeom>
          <a:solidFill>
            <a:srgbClr val="EEEBE2"/>
          </a:solidFill>
          <a:ln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800" b="1">
                <a:solidFill>
                  <a:srgbClr val="C85A32"/>
                </a:solidFill>
                <a:latin typeface="Georgia"/>
              </a:defRPr>
            </a:pPr>
            <a:r>
              <a:t>Localized Regime (Atmospheric Blocking)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• Atmospheric Driver: Quasi-stationary upper-level ridge ('heat dome').</a:t>
            </a:r>
            <a:br/>
            <a:r>
              <a:t>• Median Displacement: ~500 km</a:t>
            </a:r>
            <a:br/>
            <a:r>
              <a:t>• Median Intensity: High (~7.5)</a:t>
            </a:r>
            <a:br/>
            <a:r>
              <a:t>• Land–Atmosphere Coupling: Strong, persistent surface energy-temperature coupling amplifying in-situ soil drying and heating.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Verdana"/>
              </a:defRPr>
            </a:pPr>
            <a:r>
              <a:t>METHODOLOGY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600" b="1">
                <a:solidFill>
                  <a:srgbClr val="1C2430"/>
                </a:solidFill>
                <a:latin typeface="Georgia"/>
              </a:defRPr>
            </a:pPr>
            <a:r>
              <a:t>Pasturelands Act as Primary Corridors with 3.6× Migration Amplification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2011680"/>
          </a:xfrm>
          <a:prstGeom prst="roundRect">
            <a:avLst/>
          </a:prstGeom>
          <a:solidFill>
            <a:srgbClr val="EEEBE2"/>
          </a:solidFill>
          <a:ln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3200" b="1">
                <a:solidFill>
                  <a:srgbClr val="C85A32"/>
                </a:solidFill>
                <a:latin typeface="Georgia"/>
              </a:defRPr>
            </a:pPr>
            <a:r>
              <a:t>3.6×</a:t>
            </a:r>
          </a:p>
          <a:p>
            <a:pPr>
              <a:spcAft>
                <a:spcPts val="400"/>
              </a:spcAft>
              <a:defRPr sz="1300" b="1">
                <a:solidFill>
                  <a:srgbClr val="2B5A84"/>
                </a:solidFill>
                <a:latin typeface="Verdana"/>
              </a:defRPr>
            </a:pPr>
            <a:r>
              <a:t>Amplification Factor</a:t>
            </a:r>
          </a:p>
          <a:p>
            <a:pPr>
              <a:defRPr sz="1100">
                <a:solidFill>
                  <a:srgbClr val="1C2430"/>
                </a:solidFill>
                <a:latin typeface="Verdana"/>
              </a:defRPr>
            </a:pPr>
            <a:r>
              <a:t>Peak migration track amplification over 60–70% pastureland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737360"/>
            <a:ext cx="3328416" cy="2011680"/>
          </a:xfrm>
          <a:prstGeom prst="roundRect">
            <a:avLst/>
          </a:prstGeom>
          <a:solidFill>
            <a:srgbClr val="EEEBE2"/>
          </a:solidFill>
          <a:ln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3200" b="1">
                <a:solidFill>
                  <a:srgbClr val="C85A32"/>
                </a:solidFill>
                <a:latin typeface="Georgia"/>
              </a:defRPr>
            </a:pPr>
            <a:r>
              <a:t>4.5×</a:t>
            </a:r>
          </a:p>
          <a:p>
            <a:pPr>
              <a:spcAft>
                <a:spcPts val="400"/>
              </a:spcAft>
              <a:defRPr sz="1300" b="1">
                <a:solidFill>
                  <a:srgbClr val="2B5A84"/>
                </a:solidFill>
                <a:latin typeface="Verdana"/>
              </a:defRPr>
            </a:pPr>
            <a:r>
              <a:t>Cropland Peak</a:t>
            </a:r>
          </a:p>
          <a:p>
            <a:pPr>
              <a:defRPr sz="1100">
                <a:solidFill>
                  <a:srgbClr val="1C2430"/>
                </a:solidFill>
                <a:latin typeface="Verdana"/>
              </a:defRPr>
            </a:pPr>
            <a:r>
              <a:t>Amplification in dense croplands (70–80% fraction), though total track count remains lower.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37360"/>
            <a:ext cx="3328416" cy="2011680"/>
          </a:xfrm>
          <a:prstGeom prst="roundRect">
            <a:avLst/>
          </a:prstGeom>
          <a:solidFill>
            <a:srgbClr val="EEEBE2"/>
          </a:solidFill>
          <a:ln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3200" b="1">
                <a:solidFill>
                  <a:srgbClr val="C85A32"/>
                </a:solidFill>
                <a:latin typeface="Georgia"/>
              </a:defRPr>
            </a:pPr>
            <a:r>
              <a:t>1.5%</a:t>
            </a:r>
          </a:p>
          <a:p>
            <a:pPr>
              <a:spcAft>
                <a:spcPts val="400"/>
              </a:spcAft>
              <a:defRPr sz="1300" b="1">
                <a:solidFill>
                  <a:srgbClr val="2B5A84"/>
                </a:solidFill>
                <a:latin typeface="Verdana"/>
              </a:defRPr>
            </a:pPr>
            <a:r>
              <a:t>Pasture-to-Scrub</a:t>
            </a:r>
          </a:p>
          <a:p>
            <a:pPr>
              <a:defRPr sz="1100">
                <a:solidFill>
                  <a:srgbClr val="1C2430"/>
                </a:solidFill>
                <a:latin typeface="Verdana"/>
              </a:defRPr>
            </a:pPr>
            <a:r>
              <a:t>Annual pastureland degradation area post-2020 vs &lt;0.5% pre-2000.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2103120"/>
          </a:xfrm>
          <a:prstGeom prst="roundRect">
            <a:avLst/>
          </a:prstGeom>
          <a:solidFill>
            <a:srgbClr val="EEEBE2"/>
          </a:solidFill>
          <a:ln>
            <a:solidFill>
              <a:srgbClr val="626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B5A84"/>
                </a:solidFill>
                <a:latin typeface="Georgia"/>
              </a:defRPr>
            </a:pPr>
            <a:r>
              <a:t>Mechanistic Driver of Pastureland Vulnerability</a:t>
            </a:r>
          </a:p>
          <a:p>
            <a:pPr>
              <a:defRPr sz="1200">
                <a:solidFill>
                  <a:srgbClr val="1C2430"/>
                </a:solidFill>
                <a:latin typeface="Verdana"/>
              </a:defRPr>
            </a:pPr>
            <a:r>
              <a:t>• Shallow Root Systems: Grasslands rely on near-surface soil moisture, causing rapid depletion during compound heat and drought.</a:t>
            </a:r>
            <a:br/>
            <a:r>
              <a:t>• Reduced Thermal Buffering: Herbaceous vegetation has lower thermal tolerance than woody plants.</a:t>
            </a:r>
            <a:br/>
            <a:r>
              <a:t>• Feedback Reinforcement: Surface drying suppresses evapotranspiration, increasing sensible heat flux and promoting pasture-to-scrubland conversion.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85A32"/>
                </a:solidFill>
                <a:latin typeface="Verdana"/>
              </a:defRPr>
            </a:pPr>
            <a:r>
              <a:t>METHODOLOGY &amp;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600" b="1">
                <a:solidFill>
                  <a:srgbClr val="1C2430"/>
                </a:solidFill>
                <a:latin typeface="Georgia"/>
              </a:defRPr>
            </a:pPr>
            <a:r>
              <a:t>Trajectory-Aware Framework Enables Predictive Early Warning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1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274320"/>
          <a:lstStyle/>
          <a:p>
            <a:pPr algn="ctr">
              <a:spcAft>
                <a:spcPts val="1600"/>
              </a:spcAft>
              <a:defRPr sz="2200" b="1">
                <a:solidFill>
                  <a:srgbClr val="C85A32"/>
                </a:solidFill>
                <a:latin typeface="Georgia"/>
              </a:defRPr>
            </a:pPr>
            <a:r>
              <a:t>Key Methodological Takeaways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Verdana"/>
              </a:defRPr>
            </a:pPr>
            <a:r>
              <a:t>• 3D Spatiotemporal Paradigm: </a:t>
            </a:r>
            <a:r>
              <a:rPr sz="1400" b="0">
                <a:solidFill>
                  <a:srgbClr val="F9F8F5"/>
                </a:solidFill>
                <a:latin typeface="Verdana"/>
              </a:rPr>
              <a:t>Shifts the evaluation of compound extremes from stationary points to dynamic 3D moving structures across continents.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Verdana"/>
              </a:defRPr>
            </a:pPr>
            <a:r>
              <a:t>• Centroid Trajectory Metrics: </a:t>
            </a:r>
            <a:r>
              <a:rPr sz="1400" b="0">
                <a:solidFill>
                  <a:srgbClr val="F9F8F5"/>
                </a:solidFill>
                <a:latin typeface="Verdana"/>
              </a:rPr>
              <a:t>Enables exact calculation of displacement, path distance, migration speed, and directional bearings.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Verdana"/>
              </a:defRPr>
            </a:pPr>
            <a:r>
              <a:t>• Dual-Regime Mechanics: </a:t>
            </a:r>
            <a:r>
              <a:rPr sz="1400" b="0">
                <a:solidFill>
                  <a:srgbClr val="F9F8F5"/>
                </a:solidFill>
                <a:latin typeface="Verdana"/>
              </a:rPr>
              <a:t>Differentiates fast-moving, wave-driven migratory events (~800 km) from high-intensity, blocking-anchored localized events (~500 km).</a:t>
            </a:r>
          </a:p>
          <a:p>
            <a:pPr>
              <a:spcAft>
                <a:spcPts val="1000"/>
              </a:spcAft>
              <a:defRPr sz="1400" b="1">
                <a:solidFill>
                  <a:srgbClr val="FFFFFF"/>
                </a:solidFill>
                <a:latin typeface="Verdana"/>
              </a:defRPr>
            </a:pPr>
            <a:r>
              <a:t>• Trajectory-Aware Risk Mapping: </a:t>
            </a:r>
            <a:r>
              <a:rPr sz="1400" b="0">
                <a:solidFill>
                  <a:srgbClr val="F9F8F5"/>
                </a:solidFill>
                <a:latin typeface="Verdana"/>
              </a:rPr>
              <a:t>Provides actionable lead time for agricultural adaptation and regional disaster preparedness before downstream event arrival.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